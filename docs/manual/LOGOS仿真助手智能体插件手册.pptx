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6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4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LOGOS</a:t>
            </a:r>
            <a:r>
              <a:rPr lang="zh-CN" altLang="en-US"/>
              <a:t>仿真助手</a:t>
            </a:r>
            <a:r>
              <a:rPr lang="zh-CN" altLang="en-US"/>
              <a:t>智能体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安装与使用方法（</a:t>
            </a:r>
            <a:r>
              <a:rPr lang="en-US" altLang="zh-CN"/>
              <a:t>VS</a:t>
            </a:r>
            <a:r>
              <a:rPr lang="zh-CN" altLang="en-US"/>
              <a:t>插件版</a:t>
            </a:r>
            <a:r>
              <a:rPr lang="en-US" altLang="zh-CN"/>
              <a:t> V0.1.7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55" y="0"/>
            <a:ext cx="11590655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42290" y="2094230"/>
            <a:ext cx="398780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1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41270" y="290195"/>
            <a:ext cx="398780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2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12160" y="2425065"/>
            <a:ext cx="398780" cy="391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>
                <a:solidFill>
                  <a:srgbClr val="FF0000"/>
                </a:solidFill>
              </a:rPr>
              <a:t>3</a:t>
            </a:r>
            <a:endParaRPr lang="en-US" altLang="zh-CN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07050" y="77914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从</a:t>
            </a:r>
            <a:r>
              <a:rPr lang="en-US" altLang="zh-CN">
                <a:solidFill>
                  <a:srgbClr val="C00000"/>
                </a:solidFill>
              </a:rPr>
              <a:t>VSIX</a:t>
            </a:r>
            <a:r>
              <a:rPr lang="zh-CN" altLang="en-US">
                <a:solidFill>
                  <a:srgbClr val="C00000"/>
                </a:solidFill>
              </a:rPr>
              <a:t>安装，然后选中我们的安装包</a:t>
            </a:r>
            <a:endParaRPr lang="zh-CN" altLang="en-US">
              <a:solidFill>
                <a:srgbClr val="C00000"/>
              </a:solidFill>
            </a:endParaRPr>
          </a:p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这个过程会比较久（几分钟）</a:t>
            </a:r>
            <a:endParaRPr lang="zh-CN" altLang="en-US">
              <a:solidFill>
                <a:srgbClr val="C00000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10408285" y="520065"/>
            <a:ext cx="884555" cy="13512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9267190" y="1970405"/>
            <a:ext cx="247396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安装完成后</a:t>
            </a:r>
            <a:r>
              <a:rPr lang="en-US" altLang="zh-CN">
                <a:solidFill>
                  <a:srgbClr val="C00000"/>
                </a:solidFill>
              </a:rPr>
              <a:t> </a:t>
            </a:r>
            <a:r>
              <a:rPr lang="zh-CN" altLang="en-US">
                <a:solidFill>
                  <a:srgbClr val="C00000"/>
                </a:solidFill>
              </a:rPr>
              <a:t>会出现这个</a:t>
            </a:r>
            <a:r>
              <a:rPr lang="en-US" altLang="zh-CN">
                <a:solidFill>
                  <a:srgbClr val="C00000"/>
                </a:solidFill>
              </a:rPr>
              <a:t>logo</a:t>
            </a:r>
            <a:r>
              <a:rPr lang="zh-CN" altLang="en-US">
                <a:solidFill>
                  <a:srgbClr val="C00000"/>
                </a:solidFill>
              </a:rPr>
              <a:t>。然后我们点开他就可以进入</a:t>
            </a:r>
            <a:r>
              <a:rPr lang="zh-CN" altLang="en-US">
                <a:solidFill>
                  <a:srgbClr val="C00000"/>
                </a:solidFill>
              </a:rPr>
              <a:t>智能体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355" y="0"/>
            <a:ext cx="11590655" cy="6858000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7741285" y="298450"/>
            <a:ext cx="4107815" cy="652907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10862310" y="788670"/>
            <a:ext cx="335280" cy="107061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9177020" y="1884680"/>
            <a:ext cx="26244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点击这个齿轮进入设置面板。这里可以配置</a:t>
            </a:r>
            <a:r>
              <a:rPr lang="en-US" altLang="zh-CN">
                <a:solidFill>
                  <a:srgbClr val="C00000"/>
                </a:solidFill>
              </a:rPr>
              <a:t>api</a:t>
            </a:r>
            <a:endParaRPr lang="en-US" altLang="zh-CN">
              <a:solidFill>
                <a:srgbClr val="C00000"/>
              </a:solidFill>
            </a:endParaRPr>
          </a:p>
          <a:p>
            <a:endParaRPr lang="en-US" altLang="zh-CN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第一次使用前需要配置</a:t>
            </a:r>
            <a:r>
              <a:rPr lang="en-US" altLang="zh-CN">
                <a:solidFill>
                  <a:srgbClr val="C00000"/>
                </a:solidFill>
              </a:rPr>
              <a:t>api</a:t>
            </a:r>
            <a:endParaRPr lang="en-US" altLang="zh-CN">
              <a:solidFill>
                <a:srgbClr val="C00000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rcRect l="64257"/>
          <a:stretch>
            <a:fillRect/>
          </a:stretch>
        </p:blipFill>
        <p:spPr>
          <a:xfrm>
            <a:off x="2270125" y="53975"/>
            <a:ext cx="3950335" cy="653986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8" name="左箭头 17"/>
          <p:cNvSpPr/>
          <p:nvPr/>
        </p:nvSpPr>
        <p:spPr>
          <a:xfrm>
            <a:off x="6363970" y="2379345"/>
            <a:ext cx="1297305" cy="801370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234690" y="3180715"/>
            <a:ext cx="262445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C00000"/>
                </a:solidFill>
              </a:rPr>
              <a:t>填入</a:t>
            </a:r>
            <a:r>
              <a:rPr lang="en-US" altLang="zh-CN">
                <a:solidFill>
                  <a:srgbClr val="C00000"/>
                </a:solidFill>
              </a:rPr>
              <a:t>url</a:t>
            </a:r>
            <a:r>
              <a:rPr lang="zh-CN" altLang="en-US">
                <a:solidFill>
                  <a:srgbClr val="C00000"/>
                </a:solidFill>
              </a:rPr>
              <a:t>和</a:t>
            </a:r>
            <a:r>
              <a:rPr lang="en-US" altLang="zh-CN">
                <a:solidFill>
                  <a:srgbClr val="C00000"/>
                </a:solidFill>
              </a:rPr>
              <a:t>api key</a:t>
            </a:r>
            <a:r>
              <a:rPr lang="zh-CN" altLang="en-US">
                <a:solidFill>
                  <a:srgbClr val="C00000"/>
                </a:solidFill>
              </a:rPr>
              <a:t>之后</a:t>
            </a:r>
            <a:r>
              <a:rPr lang="en-US" altLang="zh-CN">
                <a:solidFill>
                  <a:srgbClr val="C00000"/>
                </a:solidFill>
              </a:rPr>
              <a:t> </a:t>
            </a:r>
            <a:r>
              <a:rPr lang="zh-CN" altLang="en-US">
                <a:solidFill>
                  <a:srgbClr val="C00000"/>
                </a:solidFill>
              </a:rPr>
              <a:t>选择</a:t>
            </a:r>
            <a:r>
              <a:rPr lang="en-US" altLang="zh-CN">
                <a:solidFill>
                  <a:srgbClr val="C00000"/>
                </a:solidFill>
              </a:rPr>
              <a:t> </a:t>
            </a:r>
            <a:r>
              <a:rPr lang="zh-CN" altLang="en-US">
                <a:solidFill>
                  <a:srgbClr val="C00000"/>
                </a:solidFill>
              </a:rPr>
              <a:t>获取上游模型，然后选择要使用的模型</a:t>
            </a:r>
            <a:r>
              <a:rPr lang="zh-CN" altLang="en-US">
                <a:solidFill>
                  <a:srgbClr val="C00000"/>
                </a:solidFill>
              </a:rPr>
              <a:t>即可</a:t>
            </a:r>
            <a:endParaRPr lang="zh-CN" altLang="en-US">
              <a:solidFill>
                <a:srgbClr val="C00000"/>
              </a:solidFill>
            </a:endParaRPr>
          </a:p>
          <a:p>
            <a:endParaRPr lang="zh-CN" altLang="en-US">
              <a:solidFill>
                <a:srgbClr val="C00000"/>
              </a:solidFill>
            </a:endParaRPr>
          </a:p>
          <a:p>
            <a:r>
              <a:rPr lang="zh-CN" altLang="en-US">
                <a:solidFill>
                  <a:srgbClr val="C00000"/>
                </a:solidFill>
              </a:rPr>
              <a:t>然后保存并应用，然后返回</a:t>
            </a:r>
            <a:r>
              <a:rPr lang="zh-CN" altLang="en-US">
                <a:solidFill>
                  <a:srgbClr val="C00000"/>
                </a:solidFill>
              </a:rPr>
              <a:t>聊天</a:t>
            </a:r>
            <a:endParaRPr lang="zh-CN" altLang="en-US">
              <a:solidFill>
                <a:srgbClr val="C00000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c9cf582eb0f9c23ebabe0005de44c20_raw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040765" y="0"/>
            <a:ext cx="4273550" cy="68580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5739765" y="729615"/>
            <a:ext cx="5535930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tx1"/>
                </a:solidFill>
              </a:rPr>
              <a:t>1 </a:t>
            </a:r>
            <a:r>
              <a:rPr lang="zh-CN" altLang="en-US">
                <a:solidFill>
                  <a:schemeClr val="tx1"/>
                </a:solidFill>
              </a:rPr>
              <a:t>点击右侧历史记录</a:t>
            </a:r>
            <a:r>
              <a:rPr lang="en-US" altLang="zh-CN">
                <a:solidFill>
                  <a:schemeClr val="tx1"/>
                </a:solidFill>
              </a:rPr>
              <a:t> new session </a:t>
            </a:r>
            <a:r>
              <a:rPr lang="zh-CN" altLang="en-US">
                <a:solidFill>
                  <a:schemeClr val="tx1"/>
                </a:solidFill>
              </a:rPr>
              <a:t>可以进入新会话</a:t>
            </a:r>
            <a:endParaRPr lang="zh-CN" altLang="en-US">
              <a:solidFill>
                <a:schemeClr val="tx1"/>
              </a:solidFill>
            </a:endParaRPr>
          </a:p>
          <a:p>
            <a:endParaRPr lang="en-US" altLang="zh-CN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2 </a:t>
            </a:r>
            <a:r>
              <a:rPr lang="zh-CN" altLang="en-US">
                <a:solidFill>
                  <a:schemeClr val="tx1"/>
                </a:solidFill>
              </a:rPr>
              <a:t>可能会遇到的问题（主要</a:t>
            </a:r>
            <a:r>
              <a:rPr lang="zh-CN" altLang="en-US">
                <a:solidFill>
                  <a:schemeClr val="tx1"/>
                </a:solidFill>
              </a:rPr>
              <a:t>是权限</a:t>
            </a:r>
            <a:r>
              <a:rPr lang="zh-CN" altLang="en-US">
                <a:solidFill>
                  <a:schemeClr val="tx1"/>
                </a:solidFill>
              </a:rPr>
              <a:t>问题）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3 </a:t>
            </a:r>
            <a:r>
              <a:rPr lang="zh-CN" altLang="en-US">
                <a:solidFill>
                  <a:schemeClr val="tx1"/>
                </a:solidFill>
              </a:rPr>
              <a:t>推荐使用的</a:t>
            </a:r>
            <a:r>
              <a:rPr lang="en-US" altLang="zh-CN">
                <a:solidFill>
                  <a:schemeClr val="tx1"/>
                </a:solidFill>
              </a:rPr>
              <a:t>ansys</a:t>
            </a:r>
            <a:r>
              <a:rPr lang="zh-CN" altLang="en-US">
                <a:solidFill>
                  <a:schemeClr val="tx1"/>
                </a:solidFill>
              </a:rPr>
              <a:t>的调用</a:t>
            </a:r>
            <a:r>
              <a:rPr lang="zh-CN" altLang="en-US">
                <a:solidFill>
                  <a:schemeClr val="tx1"/>
                </a:solidFill>
              </a:rPr>
              <a:t>方法：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1</a:t>
            </a:r>
            <a:r>
              <a:rPr lang="zh-CN" altLang="en-US">
                <a:solidFill>
                  <a:schemeClr val="tx1"/>
                </a:solidFill>
              </a:rPr>
              <a:t>）需要可视化交互的，可以使用</a:t>
            </a:r>
            <a:r>
              <a:rPr lang="en-US" altLang="zh-CN">
                <a:solidFill>
                  <a:schemeClr val="tx1"/>
                </a:solidFill>
              </a:rPr>
              <a:t>“gRPC</a:t>
            </a:r>
            <a:r>
              <a:rPr lang="zh-CN" altLang="en-US">
                <a:solidFill>
                  <a:schemeClr val="tx1"/>
                </a:solidFill>
              </a:rPr>
              <a:t>服务器</a:t>
            </a:r>
            <a:r>
              <a:rPr lang="en-US" altLang="zh-CN">
                <a:solidFill>
                  <a:schemeClr val="tx1"/>
                </a:solidFill>
              </a:rPr>
              <a:t>”</a:t>
            </a:r>
            <a:r>
              <a:rPr lang="zh-CN" altLang="en-US">
                <a:solidFill>
                  <a:schemeClr val="tx1"/>
                </a:solidFill>
              </a:rPr>
              <a:t>方法调用。这样智能体会直接通过控制核来控制</a:t>
            </a:r>
            <a:r>
              <a:rPr lang="en-US" altLang="zh-CN">
                <a:solidFill>
                  <a:schemeClr val="tx1"/>
                </a:solidFill>
              </a:rPr>
              <a:t>gui</a:t>
            </a:r>
            <a:r>
              <a:rPr lang="zh-CN" altLang="en-US">
                <a:solidFill>
                  <a:schemeClr val="tx1"/>
                </a:solidFill>
              </a:rPr>
              <a:t>界面。缺点是多开可能会引起</a:t>
            </a:r>
            <a:r>
              <a:rPr lang="zh-CN" altLang="en-US">
                <a:solidFill>
                  <a:schemeClr val="tx1"/>
                </a:solidFill>
              </a:rPr>
              <a:t>冲突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zh-CN" altLang="en-US">
                <a:solidFill>
                  <a:schemeClr val="tx1"/>
                </a:solidFill>
              </a:rPr>
              <a:t>（</a:t>
            </a:r>
            <a:r>
              <a:rPr lang="en-US" altLang="zh-CN">
                <a:solidFill>
                  <a:schemeClr val="tx1"/>
                </a:solidFill>
              </a:rPr>
              <a:t>2</a:t>
            </a:r>
            <a:r>
              <a:rPr lang="zh-CN" altLang="en-US">
                <a:solidFill>
                  <a:schemeClr val="tx1"/>
                </a:solidFill>
              </a:rPr>
              <a:t>）需要批量求解的，可以使用</a:t>
            </a:r>
            <a:r>
              <a:rPr lang="en-US" altLang="zh-CN">
                <a:solidFill>
                  <a:schemeClr val="tx1"/>
                </a:solidFill>
              </a:rPr>
              <a:t>“MAPDL”</a:t>
            </a:r>
            <a:r>
              <a:rPr lang="zh-CN" altLang="en-US">
                <a:solidFill>
                  <a:schemeClr val="tx1"/>
                </a:solidFill>
              </a:rPr>
              <a:t>方法，使用</a:t>
            </a:r>
            <a:r>
              <a:rPr lang="en-US" altLang="zh-CN">
                <a:solidFill>
                  <a:schemeClr val="tx1"/>
                </a:solidFill>
              </a:rPr>
              <a:t>APDL</a:t>
            </a:r>
            <a:r>
              <a:rPr lang="zh-CN" altLang="en-US">
                <a:solidFill>
                  <a:schemeClr val="tx1"/>
                </a:solidFill>
              </a:rPr>
              <a:t>脚本批量求解。缺点是这是无头模式，没有</a:t>
            </a:r>
            <a:r>
              <a:rPr lang="en-US" altLang="zh-CN">
                <a:solidFill>
                  <a:schemeClr val="tx1"/>
                </a:solidFill>
              </a:rPr>
              <a:t>gui</a:t>
            </a:r>
            <a:r>
              <a:rPr lang="zh-CN" altLang="en-US">
                <a:solidFill>
                  <a:schemeClr val="tx1"/>
                </a:solidFill>
              </a:rPr>
              <a:t>，可观测性</a:t>
            </a:r>
            <a:r>
              <a:rPr lang="zh-CN" altLang="en-US">
                <a:solidFill>
                  <a:schemeClr val="tx1"/>
                </a:solidFill>
              </a:rPr>
              <a:t>差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ansys</a:t>
            </a:r>
            <a:r>
              <a:rPr lang="zh-CN" altLang="en-US">
                <a:solidFill>
                  <a:schemeClr val="tx1"/>
                </a:solidFill>
              </a:rPr>
              <a:t>仍有其他的调用方式，根据我的实际体验以上两种比较好用。可以根据</a:t>
            </a:r>
            <a:r>
              <a:rPr lang="en-US" altLang="zh-CN">
                <a:solidFill>
                  <a:schemeClr val="tx1"/>
                </a:solidFill>
              </a:rPr>
              <a:t> </a:t>
            </a:r>
            <a:r>
              <a:rPr lang="zh-CN" altLang="en-US">
                <a:solidFill>
                  <a:schemeClr val="tx1"/>
                </a:solidFill>
              </a:rPr>
              <a:t>需求直接告诉智能体使用</a:t>
            </a:r>
            <a:r>
              <a:rPr lang="zh-CN" altLang="en-US">
                <a:solidFill>
                  <a:schemeClr val="tx1"/>
                </a:solidFill>
              </a:rPr>
              <a:t>哪一种</a:t>
            </a:r>
            <a:endParaRPr lang="zh-CN" altLang="en-US">
              <a:solidFill>
                <a:schemeClr val="tx1"/>
              </a:solidFill>
            </a:endParaRPr>
          </a:p>
          <a:p>
            <a:endParaRPr lang="zh-CN" altLang="en-US">
              <a:solidFill>
                <a:schemeClr val="tx1"/>
              </a:solidFill>
            </a:endParaRPr>
          </a:p>
          <a:p>
            <a:r>
              <a:rPr lang="en-US" altLang="zh-CN">
                <a:solidFill>
                  <a:schemeClr val="tx1"/>
                </a:solidFill>
              </a:rPr>
              <a:t>4 </a:t>
            </a:r>
            <a:r>
              <a:rPr lang="zh-CN" altLang="en-US">
                <a:solidFill>
                  <a:schemeClr val="tx1"/>
                </a:solidFill>
              </a:rPr>
              <a:t>目前插件只经过少量测试，可能会出现其他的</a:t>
            </a:r>
            <a:r>
              <a:rPr lang="en-US" altLang="zh-CN">
                <a:solidFill>
                  <a:schemeClr val="tx1"/>
                </a:solidFill>
              </a:rPr>
              <a:t>bug</a:t>
            </a:r>
            <a:r>
              <a:rPr lang="zh-CN" altLang="en-US">
                <a:solidFill>
                  <a:schemeClr val="tx1"/>
                </a:solidFill>
              </a:rPr>
              <a:t>，可以把</a:t>
            </a:r>
            <a:r>
              <a:rPr lang="en-US" altLang="zh-CN">
                <a:solidFill>
                  <a:schemeClr val="tx1"/>
                </a:solidFill>
              </a:rPr>
              <a:t>bug</a:t>
            </a:r>
            <a:r>
              <a:rPr lang="zh-CN" altLang="en-US">
                <a:solidFill>
                  <a:schemeClr val="tx1"/>
                </a:solidFill>
              </a:rPr>
              <a:t>告诉</a:t>
            </a:r>
            <a:r>
              <a:rPr lang="zh-CN" altLang="en-US">
                <a:solidFill>
                  <a:schemeClr val="tx1"/>
                </a:solidFill>
              </a:rPr>
              <a:t>我</a:t>
            </a:r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461</Words>
  <Application>WPS 演示</Application>
  <PresentationFormat>宽屏</PresentationFormat>
  <Paragraphs>38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LOGOS仿真助手智能体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小城无故事</cp:lastModifiedBy>
  <cp:revision>157</cp:revision>
  <dcterms:created xsi:type="dcterms:W3CDTF">2019-06-19T02:08:00Z</dcterms:created>
  <dcterms:modified xsi:type="dcterms:W3CDTF">2026-10-19T03:37:56Z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6E0A0DA009D84ECFAAA9EDA0881624ED_11</vt:lpwstr>
  </property>
</Properties>
</file>